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jfif" ContentType="image/j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9/3/2026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9/3/2026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9/3/2026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9/3/2026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1.jf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png"/><Relationship Id="rId3" Type="http://schemas.openxmlformats.org/officeDocument/2006/relationships/image" Target="../media/image1.jf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1.jf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3400089" cy="861497"/>
          </a:xfrm>
        </p:spPr>
        <p:txBody>
          <a:bodyPr vert="horz" lIns="91440" tIns="45720" rIns="91440" bIns="45720" rtlCol="0" anchor="t">
            <a:normAutofit/>
          </a:bodyPr>
          <a:lstStyle/>
          <a:p>
            <a:pPr algn="r"/>
            <a:r>
              <a:rPr lang="en-US" b="0" dirty="0" sz="2000">
                <a:solidFill>
                  <a:srgbClr val="111111"/>
                </a:solidFill>
                <a:latin typeface="Trebuchet MS"/>
              </a:rPr>
              <a:t>[Your Name]</a:t>
            </a:r>
            <a:endParaRPr lang="en-IN" b="0" dirty="0">
              <a:solidFill>
                <a:schemeClr val="tx1"/>
              </a:solidFill>
            </a:endParaRPr>
          </a:p>
          <a:p>
            <a:pPr algn="r"/>
            <a:r>
              <a:rPr sz="2000" b="0">
                <a:solidFill>
                  <a:srgbClr val="111111"/>
                </a:solidFill>
                <a:latin typeface="Trebuchet MS"/>
              </a:rPr>
              <a:t>[Your College Name]</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646331"/>
          </a:xfrm>
          <a:prstGeom prst="rect">
            <a:avLst/>
          </a:prstGeom>
          <a:noFill/>
        </p:spPr>
        <p:txBody>
          <a:bodyPr wrap="square" rtlCol="0">
            <a:spAutoFit/>
          </a:bodyPr>
          <a:lstStyle/>
          <a:p>
            <a:r>
              <a:rPr lang="en-US" b="1" dirty="0"/>
              <a:t>AICTE STU ID : (its available in your offer letter)</a:t>
            </a:r>
          </a:p>
        </p:txBody>
      </p:sp>
      <p:sp>
        <p:nvSpPr>
          <p:cNvPr id="38" name="TextBox 37"/>
          <p:cNvSpPr txBox="1"/>
          <p:nvPr/>
        </p:nvSpPr>
        <p:spPr>
          <a:xfrm>
            <a:off x="6400800" y="2794001"/>
            <a:ext cx="3312160" cy="861497"/>
          </a:xfrm>
          <a:prstGeom prst="rect">
            <a:avLst/>
          </a:prstGeom>
          <a:noFill/>
        </p:spPr>
        <p:txBody>
          <a:bodyPr wrap="square">
            <a:spAutoFit/>
          </a:bodyPr>
          <a:lstStyle/>
          <a:p>
            <a:pPr algn="l"/>
            <a:r>
              <a:rPr sz="1400" b="0" i="1">
                <a:solidFill>
                  <a:srgbClr val="1B3A5C"/>
                </a:solidFill>
                <a:latin typeface="Trebuchet MS"/>
              </a:rPr>
              <a:t>VOIS AICTE Data Analytics</a:t>
            </a:r>
            <a:br/>
            <a:r>
              <a:rPr sz="1400" b="0" i="1">
                <a:solidFill>
                  <a:srgbClr val="1B3A5C"/>
                </a:solidFill>
                <a:latin typeface="Trebuchet MS"/>
              </a:rPr>
              <a:t>Internship — Batch 2026-2027</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660399" y="1750000"/>
            <a:ext cx="9800000" cy="4200000"/>
          </a:xfrm>
          <a:prstGeom prst="rect">
            <a:avLst/>
          </a:prstGeom>
          <a:noFill/>
        </p:spPr>
        <p:txBody>
          <a:bodyPr wrap="square">
            <a:spAutoFit/>
          </a:bodyPr>
          <a:lstStyle/>
          <a:p>
            <a:pPr algn="l">
              <a:lnSpc>
                <a:spcPct val="125000"/>
              </a:lnSpc>
              <a:spcAft>
                <a:spcPts val="1000"/>
              </a:spcAft>
            </a:pPr>
            <a:r>
              <a:rPr sz="1700" b="0" i="0">
                <a:solidFill>
                  <a:srgbClr val="222222"/>
                </a:solidFill>
                <a:latin typeface="Trebuchet MS"/>
              </a:rPr>
              <a:t>This project analyzes 4,000 farm records covering 8 crops, 8 states and three cropping seasons — Kharif, Rabi and Zaid — to understand how agricultural performance changes across seasons. The dataset covers environmental conditions (rainfall, temperature, humidity, sunlight), resource usage (fertilizer, NPK, irrigation, water) and economic outcomes (cost, revenue, profit) recorded for each farm.</a:t>
            </a:r>
            <a:br/>
            <a:br/>
            <a:r>
              <a:rPr sz="1700" b="0" i="0">
                <a:solidFill>
                  <a:srgbClr val="222222"/>
                </a:solidFill>
                <a:latin typeface="Trebuchet MS"/>
              </a:rPr>
              <a:t>Python (Pandas, NumPy, Matplotlib, Seaborn, SciPy) was used to clean the data, explore seasonal patterns, and statistically test whether the differences observed between seasons are meaningful. The aim was not to build a predictive model, but to understand what the data actually shows about how season affects yield, resource use and profitability, and to turn that into practical, evidence-based observations.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wrap="square"/>
          <a:lstStyle/>
          <a:p>
            <a:pPr algn="l">
              <a:lnSpc>
                <a:spcPct val="105000"/>
              </a:lnSpc>
              <a:spcAft>
                <a:spcPts val="1400"/>
              </a:spcAft>
            </a:pPr>
            <a:r>
              <a:rPr sz="2000">
                <a:solidFill>
                  <a:srgbClr val="222222"/>
                </a:solidFill>
                <a:latin typeface="Trebuchet MS"/>
              </a:rPr>
              <a:t>Farmers and farm managers deciding which crops to grow in which season</a:t>
            </a:r>
            <a:endParaRPr lang="en-IN" sz="3600" dirty="0"/>
          </a:p>
          <a:p>
            <a:pPr algn="l">
              <a:lnSpc>
                <a:spcPct val="105000"/>
              </a:lnSpc>
              <a:spcAft>
                <a:spcPts val="1400"/>
              </a:spcAft>
            </a:pPr>
            <a:r>
              <a:rPr sz="2000">
                <a:solidFill>
                  <a:srgbClr val="222222"/>
                </a:solidFill>
                <a:latin typeface="Trebuchet MS"/>
              </a:rPr>
              <a:t>Agricultural extension officers and state agriculture departments</a:t>
            </a:r>
          </a:p>
          <a:p>
            <a:pPr algn="l">
              <a:lnSpc>
                <a:spcPct val="105000"/>
              </a:lnSpc>
              <a:spcAft>
                <a:spcPts val="1400"/>
              </a:spcAft>
            </a:pPr>
            <a:r>
              <a:rPr sz="2000">
                <a:solidFill>
                  <a:srgbClr val="222222"/>
                </a:solidFill>
                <a:latin typeface="Trebuchet MS"/>
              </a:rPr>
              <a:t>Agri-input and irrigation companies (fertilizer, seed, irrigation equipment)</a:t>
            </a:r>
          </a:p>
          <a:p>
            <a:pPr algn="l">
              <a:lnSpc>
                <a:spcPct val="105000"/>
              </a:lnSpc>
              <a:spcAft>
                <a:spcPts val="1400"/>
              </a:spcAft>
            </a:pPr>
            <a:r>
              <a:rPr sz="2000">
                <a:solidFill>
                  <a:srgbClr val="222222"/>
                </a:solidFill>
                <a:latin typeface="Trebuchet MS"/>
              </a:rPr>
              <a:t>Agricultural researchers, students and data analytics learners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950000" y="1432560"/>
            <a:ext cx="7468000" cy="5243448"/>
          </a:xfrm>
        </p:spPr>
        <p:txBody>
          <a:bodyPr wrap="square"/>
          <a:lstStyle/>
          <a:p>
            <a:pPr algn="l">
              <a:lnSpc>
                <a:spcPct val="105000"/>
              </a:lnSpc>
              <a:spcAft>
                <a:spcPts val="1400"/>
              </a:spcAft>
            </a:pPr>
            <a:r>
              <a:rPr sz="2000">
                <a:solidFill>
                  <a:srgbClr val="222222"/>
                </a:solidFill>
                <a:latin typeface="Trebuchet MS"/>
              </a:rPr>
              <a:t>Python 3</a:t>
            </a:r>
            <a:endParaRPr lang="en-IN" dirty="0"/>
          </a:p>
          <a:p>
            <a:pPr algn="l">
              <a:lnSpc>
                <a:spcPct val="105000"/>
              </a:lnSpc>
              <a:spcAft>
                <a:spcPts val="1400"/>
              </a:spcAft>
            </a:pPr>
            <a:r>
              <a:rPr sz="2000">
                <a:solidFill>
                  <a:srgbClr val="222222"/>
                </a:solidFill>
                <a:latin typeface="Trebuchet MS"/>
              </a:rPr>
              <a:t>Pandas &amp; NumPy — data cleaning and analysis</a:t>
            </a:r>
          </a:p>
          <a:p>
            <a:pPr algn="l">
              <a:lnSpc>
                <a:spcPct val="105000"/>
              </a:lnSpc>
              <a:spcAft>
                <a:spcPts val="1400"/>
              </a:spcAft>
            </a:pPr>
            <a:r>
              <a:rPr sz="2000">
                <a:solidFill>
                  <a:srgbClr val="222222"/>
                </a:solidFill>
                <a:latin typeface="Trebuchet MS"/>
              </a:rPr>
              <a:t>Matplotlib &amp; Seaborn — visualization</a:t>
            </a:r>
          </a:p>
          <a:p>
            <a:pPr algn="l">
              <a:lnSpc>
                <a:spcPct val="105000"/>
              </a:lnSpc>
              <a:spcAft>
                <a:spcPts val="1400"/>
              </a:spcAft>
            </a:pPr>
            <a:r>
              <a:rPr sz="2000">
                <a:solidFill>
                  <a:srgbClr val="222222"/>
                </a:solidFill>
                <a:latin typeface="Trebuchet MS"/>
              </a:rPr>
              <a:t>SciPy — statistical testing (ANOVA, correlation, chi-square)</a:t>
            </a:r>
          </a:p>
          <a:p>
            <a:pPr algn="l">
              <a:lnSpc>
                <a:spcPct val="105000"/>
              </a:lnSpc>
              <a:spcAft>
                <a:spcPts val="1400"/>
              </a:spcAft>
            </a:pPr>
            <a:r>
              <a:rPr sz="2000">
                <a:solidFill>
                  <a:srgbClr val="222222"/>
                </a:solidFill>
                <a:latin typeface="Trebuchet MS"/>
              </a:rPr>
              <a:t>Jupyter Notebook — analysis environment</a:t>
            </a:r>
          </a:p>
          <a:p>
            <a:pPr algn="l">
              <a:lnSpc>
                <a:spcPct val="105000"/>
              </a:lnSpc>
              <a:spcAft>
                <a:spcPts val="1400"/>
              </a:spcAft>
            </a:pPr>
            <a:r>
              <a:rPr sz="2000">
                <a:solidFill>
                  <a:srgbClr val="222222"/>
                </a:solidFill>
                <a:latin typeface="Trebuchet MS"/>
              </a:rPr>
              <a:t>Microsoft PowerPoint — presentation</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b="1" sz="1800">
                <a:solidFill>
                  <a:srgbClr val="1B3A5C"/>
                </a:solidFill>
                <a:latin typeface="Trebuchet MS"/>
              </a:rPr>
              <a:t>Yield by Crop and Season</a:t>
            </a:r>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500" i="1">
                <a:solidFill>
                  <a:srgbClr val="222222"/>
                </a:solidFill>
                <a:latin typeface="Trebuchet MS"/>
              </a:rPr>
              <a:t>Every crop yields highest in Kharif, lowest in Zaid</a:t>
            </a:r>
            <a:endParaRPr lang="en-GB" sz="2000" dirty="0"/>
          </a:p>
        </p:txBody>
      </p:sp>
      <p:pic>
        <p:nvPicPr>
          <p:cNvPr id="24" name="Picture 23" descr="01_yield_by_crop_season.png"/>
          <p:cNvPicPr>
            <a:picLocks noChangeAspect="1"/>
          </p:cNvPicPr>
          <p:nvPr/>
        </p:nvPicPr>
        <p:blipFill>
          <a:blip r:embed="rId3"/>
          <a:stretch>
            <a:fillRect/>
          </a:stretch>
        </p:blipFill>
        <p:spPr>
          <a:xfrm>
            <a:off x="868061" y="2050000"/>
            <a:ext cx="10463878" cy="430000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b="1" sz="1800">
                <a:solidFill>
                  <a:srgbClr val="1B3A5C"/>
                </a:solidFill>
                <a:latin typeface="Trebuchet MS"/>
              </a:rPr>
              <a:t>Economic Performance by Season</a:t>
            </a:r>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500" i="1">
                <a:solidFill>
                  <a:srgbClr val="222222"/>
                </a:solidFill>
                <a:latin typeface="Trebuchet MS"/>
              </a:rPr>
              <a:t>Zaid farms average a loss; 64% run below break-even</a:t>
            </a:r>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
            </a:r>
            <a:endParaRPr lang="en-IN" dirty="0"/>
          </a:p>
        </p:txBody>
      </p:sp>
      <p:pic>
        <p:nvPicPr>
          <p:cNvPr id="31" name="Picture 30" descr="02_profit_by_season.png"/>
          <p:cNvPicPr>
            <a:picLocks noChangeAspect="1"/>
          </p:cNvPicPr>
          <p:nvPr/>
        </p:nvPicPr>
        <p:blipFill>
          <a:blip r:embed="rId3"/>
          <a:stretch>
            <a:fillRect/>
          </a:stretch>
        </p:blipFill>
        <p:spPr>
          <a:xfrm>
            <a:off x="2468519" y="2050000"/>
            <a:ext cx="7262962" cy="4300000"/>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b="1" sz="1800">
                <a:solidFill>
                  <a:srgbClr val="1B3A5C"/>
                </a:solidFill>
                <a:latin typeface="Trebuchet MS"/>
              </a:rPr>
              <a:t>Environmental Conditions by Season</a:t>
            </a:r>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500" i="1">
                <a:solidFill>
                  <a:srgbClr val="222222"/>
                </a:solidFill>
                <a:latin typeface="Trebuchet MS"/>
              </a:rPr>
              <a:t>Kharif is wettest &amp; most humid; Zaid is hottest &amp; driest</a:t>
            </a:r>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
            </a:r>
            <a:endParaRPr lang="en-IN" dirty="0"/>
          </a:p>
        </p:txBody>
      </p:sp>
      <p:pic>
        <p:nvPicPr>
          <p:cNvPr id="31" name="Picture 30" descr="03_environmental_by_season.png"/>
          <p:cNvPicPr>
            <a:picLocks noChangeAspect="1"/>
          </p:cNvPicPr>
          <p:nvPr/>
        </p:nvPicPr>
        <p:blipFill>
          <a:blip r:embed="rId3"/>
          <a:stretch>
            <a:fillRect/>
          </a:stretch>
        </p:blipFill>
        <p:spPr>
          <a:xfrm>
            <a:off x="500000" y="2410351"/>
            <a:ext cx="11200000" cy="357929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b="1" sz="1800">
                <a:solidFill>
                  <a:srgbClr val="1B3A5C"/>
                </a:solidFill>
                <a:latin typeface="Trebuchet MS"/>
              </a:rPr>
              <a:t>Irrigation Method vs Water Efficiency &amp; Yield</a:t>
            </a:r>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500" i="1">
                <a:solidFill>
                  <a:srgbClr val="222222"/>
                </a:solidFill>
                <a:latin typeface="Trebuchet MS"/>
              </a:rPr>
              <a:t>Drip irrigation gives the best yield per unit of water used</a:t>
            </a:r>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
            </a:r>
            <a:endParaRPr lang="en-IN" dirty="0"/>
          </a:p>
        </p:txBody>
      </p:sp>
      <p:pic>
        <p:nvPicPr>
          <p:cNvPr id="31" name="Picture 30" descr="05_irrigation_comparison.png"/>
          <p:cNvPicPr>
            <a:picLocks noChangeAspect="1"/>
          </p:cNvPicPr>
          <p:nvPr/>
        </p:nvPicPr>
        <p:blipFill>
          <a:blip r:embed="rId3"/>
          <a:stretch>
            <a:fillRect/>
          </a:stretch>
        </p:blipFill>
        <p:spPr>
          <a:xfrm>
            <a:off x="2537606" y="2050000"/>
            <a:ext cx="7124787" cy="430000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b="1" sz="1800">
                <a:solidFill>
                  <a:srgbClr val="1B3A5C"/>
                </a:solidFill>
                <a:latin typeface="Trebuchet MS"/>
              </a:rPr>
              <a:t>Key Findings</a:t>
            </a:r>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sz="1500" i="1">
                <a:solidFill>
                  <a:srgbClr val="222222"/>
                </a:solidFill>
                <a:latin typeface="Trebuchet MS"/>
              </a:rPr>
              <a:t>Season is the single strongest driver of outcomes</a:t>
            </a:r>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
            </a:r>
            <a:endParaRPr lang="en-IN" dirty="0"/>
          </a:p>
        </p:txBody>
      </p:sp>
      <p:graphicFrame>
        <p:nvGraphicFramePr>
          <p:cNvPr id="31" name="Table 30"/>
          <p:cNvGraphicFramePr>
            <a:graphicFrameLocks noGrp="1"/>
          </p:cNvGraphicFramePr>
          <p:nvPr/>
        </p:nvGraphicFramePr>
        <p:xfrm>
          <a:off x="500000" y="2050000"/>
          <a:ext cx="11200000" cy="4450000"/>
        </p:xfrm>
        <a:graphic>
          <a:graphicData uri="http://schemas.openxmlformats.org/drawingml/2006/table">
            <a:tbl>
              <a:tblPr firstRow="1" bandRow="1">
                <a:tableStyleId>{5C22544A-7EE6-4342-B048-85BDC9FD1C3A}</a:tableStyleId>
              </a:tblPr>
              <a:tblGrid>
                <a:gridCol w="3300000"/>
                <a:gridCol w="3700000"/>
                <a:gridCol w="4200000"/>
              </a:tblGrid>
              <a:tr h="635714">
                <a:tc>
                  <a:txBody>
                    <a:bodyPr/>
                    <a:lstStyle/>
                    <a:p>
                      <a:pPr algn="ctr"/>
                      <a:r>
                        <a:rPr b="1" sz="1300">
                          <a:solidFill>
                            <a:srgbClr val="FFFFFF"/>
                          </a:solidFill>
                          <a:latin typeface="Trebuchet MS"/>
                        </a:rPr>
                        <a:t>Finding</a:t>
                      </a:r>
                    </a:p>
                  </a:txBody>
                  <a:tcPr>
                    <a:solidFill>
                      <a:srgbClr val="1B3A5C"/>
                    </a:solidFill>
                  </a:tcPr>
                </a:tc>
                <a:tc>
                  <a:txBody>
                    <a:bodyPr/>
                    <a:lstStyle/>
                    <a:p>
                      <a:pPr algn="ctr"/>
                      <a:r>
                        <a:rPr b="1" sz="1300">
                          <a:solidFill>
                            <a:srgbClr val="FFFFFF"/>
                          </a:solidFill>
                          <a:latin typeface="Trebuchet MS"/>
                        </a:rPr>
                        <a:t>Supporting Analysis</a:t>
                      </a:r>
                    </a:p>
                  </a:txBody>
                  <a:tcPr>
                    <a:solidFill>
                      <a:srgbClr val="1B3A5C"/>
                    </a:solidFill>
                  </a:tcPr>
                </a:tc>
                <a:tc>
                  <a:txBody>
                    <a:bodyPr/>
                    <a:lstStyle/>
                    <a:p>
                      <a:pPr algn="ctr"/>
                      <a:r>
                        <a:rPr b="1" sz="1300">
                          <a:solidFill>
                            <a:srgbClr val="FFFFFF"/>
                          </a:solidFill>
                          <a:latin typeface="Trebuchet MS"/>
                        </a:rPr>
                        <a:t>Actual Value</a:t>
                      </a:r>
                    </a:p>
                  </a:txBody>
                  <a:tcPr>
                    <a:solidFill>
                      <a:srgbClr val="1B3A5C"/>
                    </a:solidFill>
                  </a:tcPr>
                </a:tc>
              </a:tr>
              <a:tr h="635714">
                <a:tc>
                  <a:txBody>
                    <a:bodyPr/>
                    <a:lstStyle/>
                    <a:p>
                      <a:pPr algn="l"/>
                      <a:r>
                        <a:rPr sz="1100" b="1">
                          <a:solidFill>
                            <a:srgbClr val="222222"/>
                          </a:solidFill>
                          <a:latin typeface="Trebuchet MS"/>
                        </a:rPr>
                        <a:t>Kharif is the most profitable season</a:t>
                      </a:r>
                    </a:p>
                  </a:txBody>
                  <a:tcPr marT="50800" marB="50800" marL="101600" marR="101600">
                    <a:solidFill>
                      <a:srgbClr val="FFFFFF"/>
                    </a:solidFill>
                  </a:tcPr>
                </a:tc>
                <a:tc>
                  <a:txBody>
                    <a:bodyPr/>
                    <a:lstStyle/>
                    <a:p>
                      <a:pPr algn="l"/>
                      <a:r>
                        <a:rPr sz="1100" b="0">
                          <a:solidFill>
                            <a:srgbClr val="222222"/>
                          </a:solidFill>
                          <a:latin typeface="Trebuchet MS"/>
                        </a:rPr>
                        <a:t>Mean Profit_INR by Season</a:t>
                      </a:r>
                    </a:p>
                  </a:txBody>
                  <a:tcPr marT="50800" marB="50800" marL="101600" marR="101600">
                    <a:solidFill>
                      <a:srgbClr val="FFFFFF"/>
                    </a:solidFill>
                  </a:tcPr>
                </a:tc>
                <a:tc>
                  <a:txBody>
                    <a:bodyPr/>
                    <a:lstStyle/>
                    <a:p>
                      <a:pPr algn="l"/>
                      <a:r>
                        <a:rPr sz="1100" b="0">
                          <a:solidFill>
                            <a:srgbClr val="222222"/>
                          </a:solidFill>
                          <a:latin typeface="Trebuchet MS"/>
                        </a:rPr>
                        <a:t>₹178,915 (Kharif) vs ₹87,689 (Rabi) vs -₹24,805 (Zaid)</a:t>
                      </a:r>
                    </a:p>
                  </a:txBody>
                  <a:tcPr marT="50800" marB="50800" marL="101600" marR="101600">
                    <a:solidFill>
                      <a:srgbClr val="FFFFFF"/>
                    </a:solidFill>
                  </a:tcPr>
                </a:tc>
              </a:tr>
              <a:tr h="635714">
                <a:tc>
                  <a:txBody>
                    <a:bodyPr/>
                    <a:lstStyle/>
                    <a:p>
                      <a:pPr algn="l"/>
                      <a:r>
                        <a:rPr sz="1100" b="1">
                          <a:solidFill>
                            <a:srgbClr val="222222"/>
                          </a:solidFill>
                          <a:latin typeface="Trebuchet MS"/>
                        </a:rPr>
                        <a:t>Yield differs significantly by season, even after accounting for crop type</a:t>
                      </a:r>
                    </a:p>
                  </a:txBody>
                  <a:tcPr marT="50800" marB="50800" marL="101600" marR="101600">
                    <a:solidFill>
                      <a:srgbClr val="F4F7F6"/>
                    </a:solidFill>
                  </a:tcPr>
                </a:tc>
                <a:tc>
                  <a:txBody>
                    <a:bodyPr/>
                    <a:lstStyle/>
                    <a:p>
                      <a:pPr algn="l"/>
                      <a:r>
                        <a:rPr sz="1100" b="0">
                          <a:solidFill>
                            <a:srgbClr val="222222"/>
                          </a:solidFill>
                          <a:latin typeface="Trebuchet MS"/>
                        </a:rPr>
                        <a:t>One-way ANOVA on crop-normalised yield</a:t>
                      </a:r>
                    </a:p>
                  </a:txBody>
                  <a:tcPr marT="50800" marB="50800" marL="101600" marR="101600">
                    <a:solidFill>
                      <a:srgbClr val="F4F7F6"/>
                    </a:solidFill>
                  </a:tcPr>
                </a:tc>
                <a:tc>
                  <a:txBody>
                    <a:bodyPr/>
                    <a:lstStyle/>
                    <a:p>
                      <a:pPr algn="l"/>
                      <a:r>
                        <a:rPr sz="1100" b="0">
                          <a:solidFill>
                            <a:srgbClr val="222222"/>
                          </a:solidFill>
                          <a:latin typeface="Trebuchet MS"/>
                        </a:rPr>
                        <a:t>F = 127.4, p &lt; 0.001</a:t>
                      </a:r>
                    </a:p>
                  </a:txBody>
                  <a:tcPr marT="50800" marB="50800" marL="101600" marR="101600">
                    <a:solidFill>
                      <a:srgbClr val="F4F7F6"/>
                    </a:solidFill>
                  </a:tcPr>
                </a:tc>
              </a:tr>
              <a:tr h="635714">
                <a:tc>
                  <a:txBody>
                    <a:bodyPr/>
                    <a:lstStyle/>
                    <a:p>
                      <a:pPr algn="l"/>
                      <a:r>
                        <a:rPr sz="1100" b="1">
                          <a:solidFill>
                            <a:srgbClr val="222222"/>
                          </a:solidFill>
                          <a:latin typeface="Trebuchet MS"/>
                        </a:rPr>
                        <a:t>Profit differs significantly across seasons</a:t>
                      </a:r>
                    </a:p>
                  </a:txBody>
                  <a:tcPr marT="50800" marB="50800" marL="101600" marR="101600">
                    <a:solidFill>
                      <a:srgbClr val="FFFFFF"/>
                    </a:solidFill>
                  </a:tcPr>
                </a:tc>
                <a:tc>
                  <a:txBody>
                    <a:bodyPr/>
                    <a:lstStyle/>
                    <a:p>
                      <a:pPr algn="l"/>
                      <a:r>
                        <a:rPr sz="1100" b="0">
                          <a:solidFill>
                            <a:srgbClr val="222222"/>
                          </a:solidFill>
                          <a:latin typeface="Trebuchet MS"/>
                        </a:rPr>
                        <a:t>One-way ANOVA on Profit_INR</a:t>
                      </a:r>
                    </a:p>
                  </a:txBody>
                  <a:tcPr marT="50800" marB="50800" marL="101600" marR="101600">
                    <a:solidFill>
                      <a:srgbClr val="FFFFFF"/>
                    </a:solidFill>
                  </a:tcPr>
                </a:tc>
                <a:tc>
                  <a:txBody>
                    <a:bodyPr/>
                    <a:lstStyle/>
                    <a:p>
                      <a:pPr algn="l"/>
                      <a:r>
                        <a:rPr sz="1100" b="0">
                          <a:solidFill>
                            <a:srgbClr val="222222"/>
                          </a:solidFill>
                          <a:latin typeface="Trebuchet MS"/>
                        </a:rPr>
                        <a:t>F = 34.3, p &lt; 0.001</a:t>
                      </a:r>
                    </a:p>
                  </a:txBody>
                  <a:tcPr marT="50800" marB="50800" marL="101600" marR="101600">
                    <a:solidFill>
                      <a:srgbClr val="FFFFFF"/>
                    </a:solidFill>
                  </a:tcPr>
                </a:tc>
              </a:tr>
              <a:tr h="635714">
                <a:tc>
                  <a:txBody>
                    <a:bodyPr/>
                    <a:lstStyle/>
                    <a:p>
                      <a:pPr algn="l"/>
                      <a:r>
                        <a:rPr sz="1100" b="1">
                          <a:solidFill>
                            <a:srgbClr val="222222"/>
                          </a:solidFill>
                          <a:latin typeface="Trebuchet MS"/>
                        </a:rPr>
                        <a:t>Water efficiency is the strongest correlate of yield — far more than fertiliser or NPK</a:t>
                      </a:r>
                    </a:p>
                  </a:txBody>
                  <a:tcPr marT="50800" marB="50800" marL="101600" marR="101600">
                    <a:solidFill>
                      <a:srgbClr val="F4F7F6"/>
                    </a:solidFill>
                  </a:tcPr>
                </a:tc>
                <a:tc>
                  <a:txBody>
                    <a:bodyPr/>
                    <a:lstStyle/>
                    <a:p>
                      <a:pPr algn="l"/>
                      <a:r>
                        <a:rPr sz="1100" b="0">
                          <a:solidFill>
                            <a:srgbClr val="222222"/>
                          </a:solidFill>
                          <a:latin typeface="Trebuchet MS"/>
                        </a:rPr>
                        <a:t>Pearson correlation vs Yield_Tonnes_Ha</a:t>
                      </a:r>
                    </a:p>
                  </a:txBody>
                  <a:tcPr marT="50800" marB="50800" marL="101600" marR="101600">
                    <a:solidFill>
                      <a:srgbClr val="F4F7F6"/>
                    </a:solidFill>
                  </a:tcPr>
                </a:tc>
                <a:tc>
                  <a:txBody>
                    <a:bodyPr/>
                    <a:lstStyle/>
                    <a:p>
                      <a:pPr algn="l"/>
                      <a:r>
                        <a:rPr sz="1100" b="0">
                          <a:solidFill>
                            <a:srgbClr val="222222"/>
                          </a:solidFill>
                          <a:latin typeface="Trebuchet MS"/>
                        </a:rPr>
                        <a:t>r = 0.92 (water eff.) vs r ≈ 0.00–0.05 (fertiliser, N, P, K)</a:t>
                      </a:r>
                    </a:p>
                  </a:txBody>
                  <a:tcPr marT="50800" marB="50800" marL="101600" marR="101600">
                    <a:solidFill>
                      <a:srgbClr val="F4F7F6"/>
                    </a:solidFill>
                  </a:tcPr>
                </a:tc>
              </a:tr>
              <a:tr h="635714">
                <a:tc>
                  <a:txBody>
                    <a:bodyPr/>
                    <a:lstStyle/>
                    <a:p>
                      <a:pPr algn="l"/>
                      <a:r>
                        <a:rPr sz="1100" b="1">
                          <a:solidFill>
                            <a:srgbClr val="222222"/>
                          </a:solidFill>
                          <a:latin typeface="Trebuchet MS"/>
                        </a:rPr>
                        <a:t>Nearly half of all farms operate at a loss, worsening in Zaid</a:t>
                      </a:r>
                    </a:p>
                  </a:txBody>
                  <a:tcPr marT="50800" marB="50800" marL="101600" marR="101600">
                    <a:solidFill>
                      <a:srgbClr val="FFFFFF"/>
                    </a:solidFill>
                  </a:tcPr>
                </a:tc>
                <a:tc>
                  <a:txBody>
                    <a:bodyPr/>
                    <a:lstStyle/>
                    <a:p>
                      <a:pPr algn="l"/>
                      <a:r>
                        <a:rPr sz="1100" b="0">
                          <a:solidFill>
                            <a:srgbClr val="222222"/>
                          </a:solidFill>
                          <a:latin typeface="Trebuchet MS"/>
                        </a:rPr>
                        <a:t>% of farms with Profit_INR &lt; 0, by season</a:t>
                      </a:r>
                    </a:p>
                  </a:txBody>
                  <a:tcPr marT="50800" marB="50800" marL="101600" marR="101600">
                    <a:solidFill>
                      <a:srgbClr val="FFFFFF"/>
                    </a:solidFill>
                  </a:tcPr>
                </a:tc>
                <a:tc>
                  <a:txBody>
                    <a:bodyPr/>
                    <a:lstStyle/>
                    <a:p>
                      <a:pPr algn="l"/>
                      <a:r>
                        <a:rPr sz="1100" b="0">
                          <a:solidFill>
                            <a:srgbClr val="222222"/>
                          </a:solidFill>
                          <a:latin typeface="Trebuchet MS"/>
                        </a:rPr>
                        <a:t>49% overall — 42% (Kharif) → 51% (Rabi) → 64% (Zaid)</a:t>
                      </a:r>
                    </a:p>
                  </a:txBody>
                  <a:tcPr marT="50800" marB="50800" marL="101600" marR="101600">
                    <a:solidFill>
                      <a:srgbClr val="FFFFFF"/>
                    </a:solidFill>
                  </a:tcPr>
                </a:tc>
              </a:tr>
              <a:tr h="635716">
                <a:tc>
                  <a:txBody>
                    <a:bodyPr/>
                    <a:lstStyle/>
                    <a:p>
                      <a:pPr algn="l"/>
                      <a:r>
                        <a:rPr sz="1100" b="1">
                          <a:solidFill>
                            <a:srgbClr val="222222"/>
                          </a:solidFill>
                          <a:latin typeface="Trebuchet MS"/>
                        </a:rPr>
                        <a:t>Drip irrigation is the most water-efficient method</a:t>
                      </a:r>
                    </a:p>
                  </a:txBody>
                  <a:tcPr marT="50800" marB="50800" marL="101600" marR="101600">
                    <a:solidFill>
                      <a:srgbClr val="F4F7F6"/>
                    </a:solidFill>
                  </a:tcPr>
                </a:tc>
                <a:tc>
                  <a:txBody>
                    <a:bodyPr/>
                    <a:lstStyle/>
                    <a:p>
                      <a:pPr algn="l"/>
                      <a:r>
                        <a:rPr sz="1100" b="0">
                          <a:solidFill>
                            <a:srgbClr val="222222"/>
                          </a:solidFill>
                          <a:latin typeface="Trebuchet MS"/>
                        </a:rPr>
                        <a:t>Mean water efficiency &amp; yield by Irrigation_Method</a:t>
                      </a:r>
                    </a:p>
                  </a:txBody>
                  <a:tcPr marT="50800" marB="50800" marL="101600" marR="101600">
                    <a:solidFill>
                      <a:srgbClr val="F4F7F6"/>
                    </a:solidFill>
                  </a:tcPr>
                </a:tc>
                <a:tc>
                  <a:txBody>
                    <a:bodyPr/>
                    <a:lstStyle/>
                    <a:p>
                      <a:pPr algn="l"/>
                      <a:r>
                        <a:rPr sz="1100" b="0">
                          <a:solidFill>
                            <a:srgbClr val="222222"/>
                          </a:solidFill>
                          <a:latin typeface="Trebuchet MS"/>
                        </a:rPr>
                        <a:t>6.27 t/1000m³ (Drip) vs 3.44 (Flood), highest yield among methods</a:t>
                      </a:r>
                    </a:p>
                  </a:txBody>
                  <a:tcPr marT="50800" marB="50800" marL="101600" marR="101600">
                    <a:solidFill>
                      <a:srgbClr val="F4F7F6"/>
                    </a:solidFill>
                  </a:tcPr>
                </a:tc>
              </a:tr>
            </a:tbl>
          </a:graphicData>
        </a:graphic>
      </p:graphicFrame>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660399" y="2150000"/>
            <a:ext cx="9800000" cy="4250000"/>
          </a:xfrm>
          <a:prstGeom prst="rect">
            <a:avLst/>
          </a:prstGeom>
          <a:noFill/>
        </p:spPr>
        <p:txBody>
          <a:bodyPr wrap="square">
            <a:spAutoFit/>
          </a:bodyPr>
          <a:lstStyle/>
          <a:p>
            <a:pPr algn="l">
              <a:lnSpc>
                <a:spcPct val="120000"/>
              </a:lnSpc>
              <a:spcAft>
                <a:spcPts val="1800"/>
              </a:spcAft>
            </a:pPr>
            <a:r>
              <a:rPr sz="2000">
                <a:solidFill>
                  <a:srgbClr val="222222"/>
                </a:solidFill>
                <a:latin typeface="Trebuchet MS"/>
              </a:rPr>
              <a:t>•  Extend the analysis across multiple years to study year-over-year seasonal trends, not just a single-cycle cross-section</a:t>
            </a:r>
          </a:p>
          <a:p>
            <a:pPr>
              <a:lnSpc>
                <a:spcPct val="120000"/>
              </a:lnSpc>
              <a:spcAft>
                <a:spcPts val="1800"/>
              </a:spcAft>
            </a:pPr>
            <a:r>
              <a:rPr sz="2000">
                <a:solidFill>
                  <a:srgbClr val="222222"/>
                </a:solidFill>
                <a:latin typeface="Trebuchet MS"/>
              </a:rPr>
              <a:t>•  Build a simple Power BI or Streamlit dashboard so farmers or planners can filter results by state, crop and season</a:t>
            </a:r>
          </a:p>
          <a:p>
            <a:pPr>
              <a:lnSpc>
                <a:spcPct val="120000"/>
              </a:lnSpc>
              <a:spcAft>
                <a:spcPts val="1800"/>
              </a:spcAft>
            </a:pPr>
            <a:r>
              <a:rPr sz="2000">
                <a:solidFill>
                  <a:srgbClr val="222222"/>
                </a:solidFill>
                <a:latin typeface="Trebuchet MS"/>
              </a:rPr>
              <a:t>•  Investigate further why fertiliser and pesticide use show almost no correlation with yield in this dataset</a:t>
            </a:r>
          </a:p>
          <a:p>
            <a:pPr>
              <a:lnSpc>
                <a:spcPct val="120000"/>
              </a:lnSpc>
              <a:spcAft>
                <a:spcPts val="1800"/>
              </a:spcAft>
            </a:pPr>
            <a:r>
              <a:rPr sz="2000">
                <a:solidFill>
                  <a:srgbClr val="222222"/>
                </a:solidFill>
                <a:latin typeface="Trebuchet MS"/>
              </a:rPr>
              <a:t>•  Combine with real market-price time series to separate yield-driven and price-driven profit swings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solidFill>
                  <a:srgbClr val="222222"/>
                </a:solidFill>
                <a:latin typeface="Trebuchet MS"/>
              </a:rPr>
              <a:t>[Insert your GitHub repository link here]</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660399" y="2150000"/>
            <a:ext cx="9800000" cy="700000"/>
          </a:xfrm>
          <a:prstGeom prst="rect">
            <a:avLst/>
          </a:prstGeom>
          <a:noFill/>
        </p:spPr>
        <p:txBody>
          <a:bodyPr wrap="square">
            <a:spAutoFit/>
          </a:bodyPr>
          <a:lstStyle/>
          <a:p>
            <a:pPr algn="l"/>
            <a:r>
              <a:rPr sz="1800" b="0" i="1">
                <a:solidFill>
                  <a:srgbClr val="222222"/>
                </a:solidFill>
                <a:latin typeface="Trebuchet MS"/>
              </a:rPr>
              <a:t>[Insert screenshot of your VOIS course completion certificate here]</a:t>
            </a:r>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98</cp:revision>
  <dcterms:created xsi:type="dcterms:W3CDTF">2021-07-11T13:13:15Z</dcterms:created>
  <dcterms:modified xsi:type="dcterms:W3CDTF">2026-09-04T02:42:44Z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