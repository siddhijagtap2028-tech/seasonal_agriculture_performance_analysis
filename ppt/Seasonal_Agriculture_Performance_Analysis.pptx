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4" r:id="rId12"/>
    <p:sldId id="345" r:id="rId13"/>
    <p:sldId id="347" r:id="rId14"/>
    <p:sldId id="346"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siddhijagtap2028-tech/Seasonal_Agriculture_Performance_Analysis/tree/main"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350916" y="3556090"/>
            <a:ext cx="4039377" cy="861497"/>
          </a:xfrm>
        </p:spPr>
        <p:txBody>
          <a:bodyPr vert="horz" lIns="91440" tIns="45720" rIns="91440" bIns="45720" rtlCol="0" anchor="t">
            <a:normAutofit fontScale="92500"/>
          </a:bodyPr>
          <a:lstStyle/>
          <a:p>
            <a:pPr algn="r"/>
            <a:r>
              <a:rPr lang="en-US" sz="2000" b="0" dirty="0">
                <a:solidFill>
                  <a:srgbClr val="111111"/>
                </a:solidFill>
                <a:latin typeface="Trebuchet MS"/>
              </a:rPr>
              <a:t>Siddhi Santosh Jagta</a:t>
            </a:r>
            <a:r>
              <a:rPr lang="en-US" b="0" dirty="0">
                <a:solidFill>
                  <a:srgbClr val="111111"/>
                </a:solidFill>
                <a:latin typeface="Trebuchet MS"/>
              </a:rPr>
              <a:t>p</a:t>
            </a:r>
            <a:endParaRPr lang="en-IN" b="0" dirty="0">
              <a:solidFill>
                <a:schemeClr val="tx1"/>
              </a:solidFill>
            </a:endParaRPr>
          </a:p>
          <a:p>
            <a:pPr algn="r"/>
            <a:r>
              <a:rPr lang="en-US" sz="2000" b="0" dirty="0">
                <a:solidFill>
                  <a:srgbClr val="111111"/>
                </a:solidFill>
                <a:latin typeface="Trebuchet MS"/>
              </a:rPr>
              <a:t>Army Institute of Technology, Pune</a:t>
            </a:r>
            <a:endParaRPr sz="2000" b="0" dirty="0">
              <a:solidFill>
                <a:srgbClr val="111111"/>
              </a:solidFill>
              <a:latin typeface="Trebuchet MS"/>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792481" y="2481301"/>
            <a:ext cx="4998720" cy="743448"/>
          </a:xfrm>
        </p:spPr>
        <p:txBody>
          <a:bodyPr>
            <a:normAutofit fontScale="90000"/>
          </a:bodyPr>
          <a:lstStyle/>
          <a:p>
            <a:r>
              <a:rPr lang="en-GB"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883" y="4671766"/>
            <a:ext cx="4286398" cy="646331"/>
          </a:xfrm>
          <a:prstGeom prst="rect">
            <a:avLst/>
          </a:prstGeom>
          <a:noFill/>
        </p:spPr>
        <p:txBody>
          <a:bodyPr wrap="square" rtlCol="0">
            <a:spAutoFit/>
          </a:bodyPr>
          <a:lstStyle/>
          <a:p>
            <a:r>
              <a:rPr lang="en-US" b="1" dirty="0"/>
              <a:t>AICTE STU ID : STU6a5d1464e384b1784484964</a:t>
            </a:r>
          </a:p>
        </p:txBody>
      </p:sp>
      <p:sp>
        <p:nvSpPr>
          <p:cNvPr id="38" name="TextBox 37"/>
          <p:cNvSpPr txBox="1"/>
          <p:nvPr/>
        </p:nvSpPr>
        <p:spPr>
          <a:xfrm>
            <a:off x="6400800" y="2794001"/>
            <a:ext cx="3312160" cy="861497"/>
          </a:xfrm>
          <a:prstGeom prst="rect">
            <a:avLst/>
          </a:prstGeom>
          <a:noFill/>
        </p:spPr>
        <p:txBody>
          <a:bodyPr wrap="square">
            <a:spAutoFit/>
          </a:bodyPr>
          <a:lstStyle/>
          <a:p>
            <a:pPr algn="l"/>
            <a:r>
              <a:rPr sz="1400" b="0" i="1">
                <a:solidFill>
                  <a:srgbClr val="1B3A5C"/>
                </a:solidFill>
                <a:latin typeface="Trebuchet MS"/>
              </a:rPr>
              <a:t>VOIS AICTE Data Analytics</a:t>
            </a:r>
            <a:br/>
            <a:r>
              <a:rPr sz="1400" b="0" i="1">
                <a:solidFill>
                  <a:srgbClr val="1B3A5C"/>
                </a:solidFill>
                <a:latin typeface="Trebuchet MS"/>
              </a:rPr>
              <a:t>Internship — Batch 2026-2027</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75957" y="2102230"/>
            <a:ext cx="7248820" cy="4205353"/>
          </a:xfrm>
        </p:spPr>
        <p:txBody>
          <a:bodyPr vert="horz" lIns="91440" tIns="45720" rIns="91440" bIns="45720" rtlCol="0" anchor="t">
            <a:normAutofit/>
          </a:bodyPr>
          <a:lstStyle/>
          <a:p>
            <a:pPr>
              <a:lnSpc>
                <a:spcPct val="100000"/>
              </a:lnSpc>
            </a:pPr>
            <a:r>
              <a:rPr lang="en-US" dirty="0">
                <a:solidFill>
                  <a:schemeClr val="tx1"/>
                </a:solidFill>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dirty="0">
              <a:solidFill>
                <a:schemeClr val="tx1"/>
              </a:solidFill>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0" name="TextBox 9"/>
          <p:cNvSpPr txBox="1"/>
          <p:nvPr/>
        </p:nvSpPr>
        <p:spPr>
          <a:xfrm>
            <a:off x="467359" y="1923335"/>
            <a:ext cx="9665686" cy="3768338"/>
          </a:xfrm>
          <a:prstGeom prst="rect">
            <a:avLst/>
          </a:prstGeom>
          <a:noFill/>
        </p:spPr>
        <p:txBody>
          <a:bodyPr wrap="square">
            <a:spAutoFit/>
          </a:bodyPr>
          <a:lstStyle/>
          <a:p>
            <a:r>
              <a:rPr lang="en-IN" dirty="0"/>
              <a:t>The project looks at 4,000 farm records that cover 8 crops, 8 states and three cropping seasons – Kharif, Rabi and Zaid. The project wants to see how agricultural performance changes from one season to another. The dataset holds conditions such as rainfall, temperature, humidity and sunlight. The dataset also holds resource usage such as fertilizer, NPK, irrigation and water. The dataset also holds outcomes such as cost, revenue and profit for each farm.</a:t>
            </a:r>
          </a:p>
          <a:p>
            <a:endParaRPr lang="en-IN" dirty="0"/>
          </a:p>
          <a:p>
            <a:r>
              <a:rPr lang="en-IN" dirty="0"/>
              <a:t>The project used Python with libraries such as Pandas, NumPy, Matplotlib, Seaborn and SciPy to clean the farm records. The project used Python to explore patterns in the farm records. The project used Python to run tests to see if the differences, between seasons are meaningful. The project did not aim to build a model. The project aimed to understand what the farm records show about how season affects yield, resource use and profitability. The project wanted to turn that understanding into evidence-based observations.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wrap="square"/>
          <a:lstStyle/>
          <a:p>
            <a:pPr algn="l">
              <a:lnSpc>
                <a:spcPct val="105000"/>
              </a:lnSpc>
              <a:spcAft>
                <a:spcPts val="1400"/>
              </a:spcAft>
            </a:pPr>
            <a:r>
              <a:rPr sz="2000" dirty="0">
                <a:solidFill>
                  <a:schemeClr val="tx1"/>
                </a:solidFill>
                <a:latin typeface="Trebuchet MS"/>
              </a:rPr>
              <a:t>Farmers and farm managers deciding which crops to grow in which season</a:t>
            </a:r>
            <a:endParaRPr lang="en-IN" sz="3600" dirty="0">
              <a:solidFill>
                <a:schemeClr val="tx1"/>
              </a:solidFill>
            </a:endParaRPr>
          </a:p>
          <a:p>
            <a:pPr algn="l">
              <a:lnSpc>
                <a:spcPct val="105000"/>
              </a:lnSpc>
              <a:spcAft>
                <a:spcPts val="1400"/>
              </a:spcAft>
            </a:pPr>
            <a:r>
              <a:rPr sz="2000" dirty="0">
                <a:solidFill>
                  <a:schemeClr val="tx1"/>
                </a:solidFill>
                <a:latin typeface="Trebuchet MS"/>
              </a:rPr>
              <a:t>Agricultural extension officers and state agriculture departments</a:t>
            </a:r>
          </a:p>
          <a:p>
            <a:pPr algn="l">
              <a:lnSpc>
                <a:spcPct val="105000"/>
              </a:lnSpc>
              <a:spcAft>
                <a:spcPts val="1400"/>
              </a:spcAft>
            </a:pPr>
            <a:r>
              <a:rPr sz="2000" dirty="0">
                <a:solidFill>
                  <a:schemeClr val="tx1"/>
                </a:solidFill>
                <a:latin typeface="Trebuchet MS"/>
              </a:rPr>
              <a:t>Agri-input and irrigation companies (fertilizer, seed, irrigation equipment)</a:t>
            </a:r>
          </a:p>
          <a:p>
            <a:pPr algn="l">
              <a:lnSpc>
                <a:spcPct val="105000"/>
              </a:lnSpc>
              <a:spcAft>
                <a:spcPts val="1400"/>
              </a:spcAft>
            </a:pPr>
            <a:r>
              <a:rPr sz="2000" dirty="0">
                <a:solidFill>
                  <a:schemeClr val="tx1"/>
                </a:solidFill>
                <a:latin typeface="Trebuchet MS"/>
              </a:rPr>
              <a:t>Agricultural researchers, students and data analytics learners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656085" y="1847993"/>
            <a:ext cx="7468000" cy="5243448"/>
          </a:xfrm>
        </p:spPr>
        <p:txBody>
          <a:bodyPr wrap="square"/>
          <a:lstStyle/>
          <a:p>
            <a:pPr algn="l">
              <a:lnSpc>
                <a:spcPct val="105000"/>
              </a:lnSpc>
              <a:spcAft>
                <a:spcPts val="1400"/>
              </a:spcAft>
            </a:pPr>
            <a:r>
              <a:rPr sz="2000" dirty="0">
                <a:solidFill>
                  <a:schemeClr val="tx1"/>
                </a:solidFill>
                <a:latin typeface="Trebuchet MS"/>
              </a:rPr>
              <a:t>Python 3</a:t>
            </a:r>
            <a:endParaRPr lang="en-IN" dirty="0">
              <a:solidFill>
                <a:schemeClr val="tx1"/>
              </a:solidFill>
            </a:endParaRPr>
          </a:p>
          <a:p>
            <a:pPr algn="l">
              <a:lnSpc>
                <a:spcPct val="105000"/>
              </a:lnSpc>
              <a:spcAft>
                <a:spcPts val="1400"/>
              </a:spcAft>
            </a:pPr>
            <a:r>
              <a:rPr sz="2000" dirty="0">
                <a:solidFill>
                  <a:schemeClr val="tx1"/>
                </a:solidFill>
                <a:latin typeface="Trebuchet MS"/>
              </a:rPr>
              <a:t>Pandas &amp; NumPy — data cleaning and analysis</a:t>
            </a:r>
          </a:p>
          <a:p>
            <a:pPr algn="l">
              <a:lnSpc>
                <a:spcPct val="105000"/>
              </a:lnSpc>
              <a:spcAft>
                <a:spcPts val="1400"/>
              </a:spcAft>
            </a:pPr>
            <a:r>
              <a:rPr sz="2000" dirty="0">
                <a:solidFill>
                  <a:schemeClr val="tx1"/>
                </a:solidFill>
                <a:latin typeface="Trebuchet MS"/>
              </a:rPr>
              <a:t>Matplotlib &amp; Seaborn — visualization</a:t>
            </a:r>
          </a:p>
          <a:p>
            <a:pPr algn="l">
              <a:lnSpc>
                <a:spcPct val="105000"/>
              </a:lnSpc>
              <a:spcAft>
                <a:spcPts val="1400"/>
              </a:spcAft>
            </a:pPr>
            <a:r>
              <a:rPr sz="2000" dirty="0">
                <a:solidFill>
                  <a:schemeClr val="tx1"/>
                </a:solidFill>
                <a:latin typeface="Trebuchet MS"/>
              </a:rPr>
              <a:t>SciPy — statistical testing (ANOVA, correlation, chi-square)</a:t>
            </a:r>
          </a:p>
          <a:p>
            <a:pPr algn="l">
              <a:lnSpc>
                <a:spcPct val="105000"/>
              </a:lnSpc>
              <a:spcAft>
                <a:spcPts val="1400"/>
              </a:spcAft>
            </a:pPr>
            <a:r>
              <a:rPr sz="2000" dirty="0">
                <a:solidFill>
                  <a:schemeClr val="tx1"/>
                </a:solidFill>
                <a:latin typeface="Trebuchet MS"/>
              </a:rPr>
              <a:t>Jupyter Notebook — analysis environment</a:t>
            </a:r>
          </a:p>
          <a:p>
            <a:pPr algn="l">
              <a:lnSpc>
                <a:spcPct val="105000"/>
              </a:lnSpc>
              <a:spcAft>
                <a:spcPts val="1400"/>
              </a:spcAft>
            </a:pPr>
            <a:r>
              <a:rPr sz="2000" dirty="0">
                <a:solidFill>
                  <a:schemeClr val="tx1"/>
                </a:solidFill>
                <a:latin typeface="Trebuchet MS"/>
              </a:rPr>
              <a:t>Microsoft PowerPoint — presentation</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675957" y="1349156"/>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sz="1800" b="1" dirty="0">
                <a:solidFill>
                  <a:srgbClr val="1B3A5C"/>
                </a:solidFill>
                <a:latin typeface="Trebuchet MS"/>
              </a:rPr>
              <a:t>Yield by Crop and Season</a:t>
            </a:r>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sz="1500" i="1">
                <a:solidFill>
                  <a:srgbClr val="222222"/>
                </a:solidFill>
                <a:latin typeface="Trebuchet MS"/>
              </a:rPr>
              <a:t>Every crop yields highest in Kharif, lowest in Zaid</a:t>
            </a:r>
            <a:endParaRPr lang="en-GB" sz="2000" dirty="0"/>
          </a:p>
        </p:txBody>
      </p:sp>
      <p:pic>
        <p:nvPicPr>
          <p:cNvPr id="3" name="Picture 2">
            <a:extLst>
              <a:ext uri="{FF2B5EF4-FFF2-40B4-BE49-F238E27FC236}">
                <a16:creationId xmlns:a16="http://schemas.microsoft.com/office/drawing/2014/main" id="{BB3C887A-A3DA-901D-E5AA-950F3C9685C9}"/>
              </a:ext>
            </a:extLst>
          </p:cNvPr>
          <p:cNvPicPr>
            <a:picLocks noChangeAspect="1"/>
          </p:cNvPicPr>
          <p:nvPr/>
        </p:nvPicPr>
        <p:blipFill>
          <a:blip r:embed="rId3"/>
          <a:stretch>
            <a:fillRect/>
          </a:stretch>
        </p:blipFill>
        <p:spPr>
          <a:xfrm>
            <a:off x="366714" y="1941450"/>
            <a:ext cx="10885005" cy="453047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675957" y="1300440"/>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sz="1800" b="1" dirty="0">
                <a:solidFill>
                  <a:srgbClr val="1B3A5C"/>
                </a:solidFill>
                <a:latin typeface="Trebuchet MS"/>
              </a:rPr>
              <a:t>Economic Performance by Season</a:t>
            </a:r>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sz="1500" i="1">
                <a:solidFill>
                  <a:srgbClr val="222222"/>
                </a:solidFill>
                <a:latin typeface="Trebuchet MS"/>
              </a:rPr>
              <a:t>Zaid farms average a loss; 64% run below break-even</a:t>
            </a:r>
            <a:endParaRPr lang="en-GB" sz="2000" dirty="0"/>
          </a:p>
        </p:txBody>
      </p:sp>
      <p:pic>
        <p:nvPicPr>
          <p:cNvPr id="3" name="Picture 2">
            <a:extLst>
              <a:ext uri="{FF2B5EF4-FFF2-40B4-BE49-F238E27FC236}">
                <a16:creationId xmlns:a16="http://schemas.microsoft.com/office/drawing/2014/main" id="{044B4965-EF03-A3CC-6E84-F27468DEE62E}"/>
              </a:ext>
            </a:extLst>
          </p:cNvPr>
          <p:cNvPicPr>
            <a:picLocks noChangeAspect="1"/>
          </p:cNvPicPr>
          <p:nvPr/>
        </p:nvPicPr>
        <p:blipFill>
          <a:blip r:embed="rId3"/>
          <a:stretch>
            <a:fillRect/>
          </a:stretch>
        </p:blipFill>
        <p:spPr>
          <a:xfrm>
            <a:off x="681011" y="2281560"/>
            <a:ext cx="7398398" cy="438340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675957" y="126200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sz="1800" b="1" dirty="0">
                <a:solidFill>
                  <a:srgbClr val="1B3A5C"/>
                </a:solidFill>
                <a:latin typeface="Trebuchet MS"/>
              </a:rPr>
              <a:t>Environmental Conditions by Season</a:t>
            </a:r>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424219" y="1170098"/>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sz="1500" i="1" dirty="0">
                <a:solidFill>
                  <a:srgbClr val="222222"/>
                </a:solidFill>
                <a:latin typeface="Trebuchet MS"/>
              </a:rPr>
              <a:t>Kharif is wettest &amp; most humid; Zaid is hottest &amp; driest</a:t>
            </a:r>
            <a:endParaRPr lang="en-GB" sz="2000" dirty="0"/>
          </a:p>
        </p:txBody>
      </p:sp>
      <p:pic>
        <p:nvPicPr>
          <p:cNvPr id="3" name="Picture 2">
            <a:extLst>
              <a:ext uri="{FF2B5EF4-FFF2-40B4-BE49-F238E27FC236}">
                <a16:creationId xmlns:a16="http://schemas.microsoft.com/office/drawing/2014/main" id="{D04A72B3-066E-6E70-5CFB-BE503D96CBDE}"/>
              </a:ext>
            </a:extLst>
          </p:cNvPr>
          <p:cNvPicPr>
            <a:picLocks noChangeAspect="1"/>
          </p:cNvPicPr>
          <p:nvPr/>
        </p:nvPicPr>
        <p:blipFill>
          <a:blip r:embed="rId3"/>
          <a:stretch>
            <a:fillRect/>
          </a:stretch>
        </p:blipFill>
        <p:spPr>
          <a:xfrm>
            <a:off x="412614" y="2672927"/>
            <a:ext cx="11103429" cy="3314568"/>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675957" y="1260566"/>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sz="1800" b="1" dirty="0">
                <a:solidFill>
                  <a:srgbClr val="1B3A5C"/>
                </a:solidFill>
                <a:latin typeface="Trebuchet MS"/>
              </a:rPr>
              <a:t>Irrigation Method vs Water Efficiency &amp; Yield</a:t>
            </a:r>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522975" y="1349003"/>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sz="1500" i="1" dirty="0">
                <a:solidFill>
                  <a:srgbClr val="222222"/>
                </a:solidFill>
                <a:latin typeface="Trebuchet MS"/>
              </a:rPr>
              <a:t>Drip irrigation gives the best yield per unit of water used</a:t>
            </a:r>
            <a:endParaRPr lang="en-GB" sz="2000" dirty="0"/>
          </a:p>
        </p:txBody>
      </p:sp>
      <p:pic>
        <p:nvPicPr>
          <p:cNvPr id="9" name="Picture 8">
            <a:extLst>
              <a:ext uri="{FF2B5EF4-FFF2-40B4-BE49-F238E27FC236}">
                <a16:creationId xmlns:a16="http://schemas.microsoft.com/office/drawing/2014/main" id="{061598ED-8CEE-9242-D834-1AB8F60AA2CB}"/>
              </a:ext>
            </a:extLst>
          </p:cNvPr>
          <p:cNvPicPr>
            <a:picLocks noChangeAspect="1"/>
          </p:cNvPicPr>
          <p:nvPr/>
        </p:nvPicPr>
        <p:blipFill>
          <a:blip r:embed="rId3"/>
          <a:stretch>
            <a:fillRect/>
          </a:stretch>
        </p:blipFill>
        <p:spPr>
          <a:xfrm>
            <a:off x="551673" y="2049481"/>
            <a:ext cx="7640605" cy="4615479"/>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8783CC-9EF4-1BBB-5D36-D39BE877E813}"/>
              </a:ext>
            </a:extLst>
          </p:cNvPr>
          <p:cNvSpPr>
            <a:spLocks noGrp="1"/>
          </p:cNvSpPr>
          <p:nvPr>
            <p:ph type="title"/>
          </p:nvPr>
        </p:nvSpPr>
        <p:spPr>
          <a:xfrm>
            <a:off x="675957" y="417785"/>
            <a:ext cx="4275138" cy="830997"/>
          </a:xfrm>
        </p:spPr>
        <p:txBody>
          <a:bodyPr/>
          <a:lstStyle/>
          <a:p>
            <a:r>
              <a:rPr lang="en-US" dirty="0"/>
              <a:t>RESULTS</a:t>
            </a:r>
            <a:endParaRPr lang="en-IN" dirty="0"/>
          </a:p>
        </p:txBody>
      </p:sp>
      <p:sp>
        <p:nvSpPr>
          <p:cNvPr id="5" name="Text Placeholder 30">
            <a:extLst>
              <a:ext uri="{FF2B5EF4-FFF2-40B4-BE49-F238E27FC236}">
                <a16:creationId xmlns:a16="http://schemas.microsoft.com/office/drawing/2014/main" id="{305C7E41-C350-7315-870F-3A6FF52F5822}"/>
              </a:ext>
            </a:extLst>
          </p:cNvPr>
          <p:cNvSpPr txBox="1">
            <a:spLocks/>
          </p:cNvSpPr>
          <p:nvPr/>
        </p:nvSpPr>
        <p:spPr>
          <a:xfrm>
            <a:off x="675957" y="137941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sz="1800" b="1" dirty="0">
                <a:solidFill>
                  <a:srgbClr val="1B3A5C"/>
                </a:solidFill>
                <a:latin typeface="Trebuchet MS"/>
              </a:rPr>
              <a:t>Water Efficiency Vs Yield </a:t>
            </a:r>
            <a:r>
              <a:rPr lang="en-IN" dirty="0"/>
              <a:t> </a:t>
            </a:r>
            <a:endParaRPr lang="en-GB" sz="2000" dirty="0"/>
          </a:p>
        </p:txBody>
      </p:sp>
      <p:pic>
        <p:nvPicPr>
          <p:cNvPr id="7" name="Picture 6">
            <a:extLst>
              <a:ext uri="{FF2B5EF4-FFF2-40B4-BE49-F238E27FC236}">
                <a16:creationId xmlns:a16="http://schemas.microsoft.com/office/drawing/2014/main" id="{6DF79DC6-0543-ABD4-3C74-26C533AECC42}"/>
              </a:ext>
            </a:extLst>
          </p:cNvPr>
          <p:cNvPicPr>
            <a:picLocks noChangeAspect="1"/>
          </p:cNvPicPr>
          <p:nvPr/>
        </p:nvPicPr>
        <p:blipFill>
          <a:blip r:embed="rId2"/>
          <a:stretch>
            <a:fillRect/>
          </a:stretch>
        </p:blipFill>
        <p:spPr>
          <a:xfrm>
            <a:off x="592480" y="2176118"/>
            <a:ext cx="7357201" cy="4444282"/>
          </a:xfrm>
          <a:prstGeom prst="rect">
            <a:avLst/>
          </a:prstGeom>
        </p:spPr>
      </p:pic>
      <p:sp>
        <p:nvSpPr>
          <p:cNvPr id="8" name="Text Placeholder 30">
            <a:extLst>
              <a:ext uri="{FF2B5EF4-FFF2-40B4-BE49-F238E27FC236}">
                <a16:creationId xmlns:a16="http://schemas.microsoft.com/office/drawing/2014/main" id="{0A3B959A-97C0-5676-548C-0BD0B16CDBDF}"/>
              </a:ext>
            </a:extLst>
          </p:cNvPr>
          <p:cNvSpPr txBox="1">
            <a:spLocks/>
          </p:cNvSpPr>
          <p:nvPr/>
        </p:nvSpPr>
        <p:spPr>
          <a:xfrm>
            <a:off x="4634943" y="1259925"/>
            <a:ext cx="4275138" cy="666078"/>
          </a:xfrm>
          <a:prstGeom prst="rect">
            <a:avLst/>
          </a:prstGeom>
        </p:spPr>
        <p:txBody>
          <a:bodyPr vert="horz" lIns="91440" tIns="45720" rIns="91440" bIns="45720" rtlCol="0">
            <a:no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IN" sz="1500" i="1" dirty="0"/>
              <a:t>Water efficiency is by far the strongest correlate of yield (r ≈ 0.92) and a moderate correlate of profit</a:t>
            </a:r>
          </a:p>
        </p:txBody>
      </p:sp>
    </p:spTree>
    <p:extLst>
      <p:ext uri="{BB962C8B-B14F-4D97-AF65-F5344CB8AC3E}">
        <p14:creationId xmlns:p14="http://schemas.microsoft.com/office/powerpoint/2010/main" val="248912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154879" y="1291109"/>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800" b="1" dirty="0">
                <a:solidFill>
                  <a:srgbClr val="1B3A5C"/>
                </a:solidFill>
                <a:latin typeface="Trebuchet MS"/>
              </a:rPr>
              <a:t>Key Findings</a:t>
            </a:r>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500" i="1">
                <a:solidFill>
                  <a:srgbClr val="222222"/>
                </a:solidFill>
                <a:latin typeface="Trebuchet MS"/>
              </a:rPr>
              <a:t>Season is the single strongest driver of outcomes</a:t>
            </a:r>
            <a:endParaRPr lang="en-GB" sz="2000" dirty="0"/>
          </a:p>
        </p:txBody>
      </p:sp>
      <p:graphicFrame>
        <p:nvGraphicFramePr>
          <p:cNvPr id="31" name="Table 30"/>
          <p:cNvGraphicFramePr>
            <a:graphicFrameLocks noGrp="1"/>
          </p:cNvGraphicFramePr>
          <p:nvPr>
            <p:extLst>
              <p:ext uri="{D42A27DB-BD31-4B8C-83A1-F6EECF244321}">
                <p14:modId xmlns:p14="http://schemas.microsoft.com/office/powerpoint/2010/main" val="2394722317"/>
              </p:ext>
            </p:extLst>
          </p:nvPr>
        </p:nvGraphicFramePr>
        <p:xfrm>
          <a:off x="499999" y="2049999"/>
          <a:ext cx="10995315" cy="4248166"/>
        </p:xfrm>
        <a:graphic>
          <a:graphicData uri="http://schemas.openxmlformats.org/drawingml/2006/table">
            <a:tbl>
              <a:tblPr firstRow="1" bandRow="1">
                <a:tableStyleId>{5C22544A-7EE6-4342-B048-85BDC9FD1C3A}</a:tableStyleId>
              </a:tblPr>
              <a:tblGrid>
                <a:gridCol w="3239691">
                  <a:extLst>
                    <a:ext uri="{9D8B030D-6E8A-4147-A177-3AD203B41FA5}">
                      <a16:colId xmlns:a16="http://schemas.microsoft.com/office/drawing/2014/main" val="20000"/>
                    </a:ext>
                  </a:extLst>
                </a:gridCol>
                <a:gridCol w="3632380">
                  <a:extLst>
                    <a:ext uri="{9D8B030D-6E8A-4147-A177-3AD203B41FA5}">
                      <a16:colId xmlns:a16="http://schemas.microsoft.com/office/drawing/2014/main" val="20001"/>
                    </a:ext>
                  </a:extLst>
                </a:gridCol>
                <a:gridCol w="4123244">
                  <a:extLst>
                    <a:ext uri="{9D8B030D-6E8A-4147-A177-3AD203B41FA5}">
                      <a16:colId xmlns:a16="http://schemas.microsoft.com/office/drawing/2014/main" val="20002"/>
                    </a:ext>
                  </a:extLst>
                </a:gridCol>
              </a:tblGrid>
              <a:tr h="603066">
                <a:tc>
                  <a:txBody>
                    <a:bodyPr/>
                    <a:lstStyle/>
                    <a:p>
                      <a:pPr algn="ctr"/>
                      <a:r>
                        <a:rPr sz="1300" b="1">
                          <a:solidFill>
                            <a:srgbClr val="FFFFFF"/>
                          </a:solidFill>
                          <a:latin typeface="Trebuchet MS"/>
                        </a:rPr>
                        <a:t>Finding</a:t>
                      </a:r>
                    </a:p>
                  </a:txBody>
                  <a:tcPr>
                    <a:solidFill>
                      <a:srgbClr val="1B3A5C"/>
                    </a:solidFill>
                  </a:tcPr>
                </a:tc>
                <a:tc>
                  <a:txBody>
                    <a:bodyPr/>
                    <a:lstStyle/>
                    <a:p>
                      <a:pPr algn="ctr"/>
                      <a:r>
                        <a:rPr sz="1300" b="1">
                          <a:solidFill>
                            <a:srgbClr val="FFFFFF"/>
                          </a:solidFill>
                          <a:latin typeface="Trebuchet MS"/>
                        </a:rPr>
                        <a:t>Supporting Analysis</a:t>
                      </a:r>
                    </a:p>
                  </a:txBody>
                  <a:tcPr>
                    <a:solidFill>
                      <a:srgbClr val="1B3A5C"/>
                    </a:solidFill>
                  </a:tcPr>
                </a:tc>
                <a:tc>
                  <a:txBody>
                    <a:bodyPr/>
                    <a:lstStyle/>
                    <a:p>
                      <a:pPr algn="ctr"/>
                      <a:r>
                        <a:rPr sz="1300" b="1">
                          <a:solidFill>
                            <a:srgbClr val="FFFFFF"/>
                          </a:solidFill>
                          <a:latin typeface="Trebuchet MS"/>
                        </a:rPr>
                        <a:t>Actual Value</a:t>
                      </a:r>
                    </a:p>
                  </a:txBody>
                  <a:tcPr>
                    <a:solidFill>
                      <a:srgbClr val="1B3A5C"/>
                    </a:solidFill>
                  </a:tcPr>
                </a:tc>
                <a:extLst>
                  <a:ext uri="{0D108BD9-81ED-4DB2-BD59-A6C34878D82A}">
                    <a16:rowId xmlns:a16="http://schemas.microsoft.com/office/drawing/2014/main" val="10000"/>
                  </a:ext>
                </a:extLst>
              </a:tr>
              <a:tr h="603066">
                <a:tc>
                  <a:txBody>
                    <a:bodyPr/>
                    <a:lstStyle/>
                    <a:p>
                      <a:pPr algn="l"/>
                      <a:r>
                        <a:rPr sz="1100" b="1">
                          <a:solidFill>
                            <a:srgbClr val="222222"/>
                          </a:solidFill>
                          <a:latin typeface="Trebuchet MS"/>
                        </a:rPr>
                        <a:t>Kharif is the most profitable season</a:t>
                      </a:r>
                    </a:p>
                  </a:txBody>
                  <a:tcPr marL="101600" marR="101600" marT="50800" marB="50800">
                    <a:solidFill>
                      <a:srgbClr val="FFFFFF"/>
                    </a:solidFill>
                  </a:tcPr>
                </a:tc>
                <a:tc>
                  <a:txBody>
                    <a:bodyPr/>
                    <a:lstStyle/>
                    <a:p>
                      <a:pPr algn="l"/>
                      <a:r>
                        <a:rPr sz="1100" b="0">
                          <a:solidFill>
                            <a:srgbClr val="222222"/>
                          </a:solidFill>
                          <a:latin typeface="Trebuchet MS"/>
                        </a:rPr>
                        <a:t>Mean Profit_INR by Season</a:t>
                      </a:r>
                    </a:p>
                  </a:txBody>
                  <a:tcPr marL="101600" marR="101600" marT="50800" marB="50800">
                    <a:solidFill>
                      <a:srgbClr val="FFFFFF"/>
                    </a:solidFill>
                  </a:tcPr>
                </a:tc>
                <a:tc>
                  <a:txBody>
                    <a:bodyPr/>
                    <a:lstStyle/>
                    <a:p>
                      <a:pPr algn="l"/>
                      <a:r>
                        <a:rPr sz="1100" b="0">
                          <a:solidFill>
                            <a:srgbClr val="222222"/>
                          </a:solidFill>
                          <a:latin typeface="Trebuchet MS"/>
                        </a:rPr>
                        <a:t>₹178,915 (Kharif) vs ₹87,689 (Rabi) vs -₹24,805 (Zaid)</a:t>
                      </a:r>
                    </a:p>
                  </a:txBody>
                  <a:tcPr marL="101600" marR="101600" marT="50800" marB="50800">
                    <a:solidFill>
                      <a:srgbClr val="FFFFFF"/>
                    </a:solidFill>
                  </a:tcPr>
                </a:tc>
                <a:extLst>
                  <a:ext uri="{0D108BD9-81ED-4DB2-BD59-A6C34878D82A}">
                    <a16:rowId xmlns:a16="http://schemas.microsoft.com/office/drawing/2014/main" val="10001"/>
                  </a:ext>
                </a:extLst>
              </a:tr>
              <a:tr h="603066">
                <a:tc>
                  <a:txBody>
                    <a:bodyPr/>
                    <a:lstStyle/>
                    <a:p>
                      <a:pPr algn="l"/>
                      <a:r>
                        <a:rPr sz="1100" b="1">
                          <a:solidFill>
                            <a:srgbClr val="222222"/>
                          </a:solidFill>
                          <a:latin typeface="Trebuchet MS"/>
                        </a:rPr>
                        <a:t>Yield differs significantly by season, even after accounting for crop type</a:t>
                      </a:r>
                    </a:p>
                  </a:txBody>
                  <a:tcPr marL="101600" marR="101600" marT="50800" marB="50800">
                    <a:solidFill>
                      <a:srgbClr val="F4F7F6"/>
                    </a:solidFill>
                  </a:tcPr>
                </a:tc>
                <a:tc>
                  <a:txBody>
                    <a:bodyPr/>
                    <a:lstStyle/>
                    <a:p>
                      <a:pPr algn="l"/>
                      <a:r>
                        <a:rPr sz="1100" b="0">
                          <a:solidFill>
                            <a:srgbClr val="222222"/>
                          </a:solidFill>
                          <a:latin typeface="Trebuchet MS"/>
                        </a:rPr>
                        <a:t>One-way ANOVA on crop-normalised yield</a:t>
                      </a:r>
                    </a:p>
                  </a:txBody>
                  <a:tcPr marL="101600" marR="101600" marT="50800" marB="50800">
                    <a:solidFill>
                      <a:srgbClr val="F4F7F6"/>
                    </a:solidFill>
                  </a:tcPr>
                </a:tc>
                <a:tc>
                  <a:txBody>
                    <a:bodyPr/>
                    <a:lstStyle/>
                    <a:p>
                      <a:pPr algn="l"/>
                      <a:r>
                        <a:rPr sz="1100" b="0">
                          <a:solidFill>
                            <a:srgbClr val="222222"/>
                          </a:solidFill>
                          <a:latin typeface="Trebuchet MS"/>
                        </a:rPr>
                        <a:t>F = 127.4, p &lt; 0.001</a:t>
                      </a:r>
                    </a:p>
                  </a:txBody>
                  <a:tcPr marL="101600" marR="101600" marT="50800" marB="50800">
                    <a:solidFill>
                      <a:srgbClr val="F4F7F6"/>
                    </a:solidFill>
                  </a:tcPr>
                </a:tc>
                <a:extLst>
                  <a:ext uri="{0D108BD9-81ED-4DB2-BD59-A6C34878D82A}">
                    <a16:rowId xmlns:a16="http://schemas.microsoft.com/office/drawing/2014/main" val="10002"/>
                  </a:ext>
                </a:extLst>
              </a:tr>
              <a:tr h="603066">
                <a:tc>
                  <a:txBody>
                    <a:bodyPr/>
                    <a:lstStyle/>
                    <a:p>
                      <a:pPr algn="l"/>
                      <a:r>
                        <a:rPr sz="1100" b="1">
                          <a:solidFill>
                            <a:srgbClr val="222222"/>
                          </a:solidFill>
                          <a:latin typeface="Trebuchet MS"/>
                        </a:rPr>
                        <a:t>Profit differs significantly across seasons</a:t>
                      </a:r>
                    </a:p>
                  </a:txBody>
                  <a:tcPr marL="101600" marR="101600" marT="50800" marB="50800">
                    <a:solidFill>
                      <a:srgbClr val="FFFFFF"/>
                    </a:solidFill>
                  </a:tcPr>
                </a:tc>
                <a:tc>
                  <a:txBody>
                    <a:bodyPr/>
                    <a:lstStyle/>
                    <a:p>
                      <a:pPr algn="l"/>
                      <a:r>
                        <a:rPr sz="1100" b="0">
                          <a:solidFill>
                            <a:srgbClr val="222222"/>
                          </a:solidFill>
                          <a:latin typeface="Trebuchet MS"/>
                        </a:rPr>
                        <a:t>One-way ANOVA on Profit_INR</a:t>
                      </a:r>
                    </a:p>
                  </a:txBody>
                  <a:tcPr marL="101600" marR="101600" marT="50800" marB="50800">
                    <a:solidFill>
                      <a:srgbClr val="FFFFFF"/>
                    </a:solidFill>
                  </a:tcPr>
                </a:tc>
                <a:tc>
                  <a:txBody>
                    <a:bodyPr/>
                    <a:lstStyle/>
                    <a:p>
                      <a:pPr algn="l"/>
                      <a:r>
                        <a:rPr sz="1100" b="0" dirty="0">
                          <a:solidFill>
                            <a:srgbClr val="222222"/>
                          </a:solidFill>
                          <a:latin typeface="Trebuchet MS"/>
                        </a:rPr>
                        <a:t>F = 34.3, p &lt; 0.001</a:t>
                      </a:r>
                    </a:p>
                  </a:txBody>
                  <a:tcPr marL="101600" marR="101600" marT="50800" marB="50800">
                    <a:solidFill>
                      <a:srgbClr val="FFFFFF"/>
                    </a:solidFill>
                  </a:tcPr>
                </a:tc>
                <a:extLst>
                  <a:ext uri="{0D108BD9-81ED-4DB2-BD59-A6C34878D82A}">
                    <a16:rowId xmlns:a16="http://schemas.microsoft.com/office/drawing/2014/main" val="10003"/>
                  </a:ext>
                </a:extLst>
              </a:tr>
              <a:tr h="629768">
                <a:tc>
                  <a:txBody>
                    <a:bodyPr/>
                    <a:lstStyle/>
                    <a:p>
                      <a:pPr algn="l"/>
                      <a:r>
                        <a:rPr sz="1100" b="1">
                          <a:solidFill>
                            <a:srgbClr val="222222"/>
                          </a:solidFill>
                          <a:latin typeface="Trebuchet MS"/>
                        </a:rPr>
                        <a:t>Water efficiency is the strongest correlate of yield — far more than fertiliser or NPK</a:t>
                      </a:r>
                    </a:p>
                  </a:txBody>
                  <a:tcPr marL="101600" marR="101600" marT="50800" marB="50800">
                    <a:solidFill>
                      <a:srgbClr val="F4F7F6"/>
                    </a:solidFill>
                  </a:tcPr>
                </a:tc>
                <a:tc>
                  <a:txBody>
                    <a:bodyPr/>
                    <a:lstStyle/>
                    <a:p>
                      <a:pPr algn="l"/>
                      <a:r>
                        <a:rPr sz="1100" b="0">
                          <a:solidFill>
                            <a:srgbClr val="222222"/>
                          </a:solidFill>
                          <a:latin typeface="Trebuchet MS"/>
                        </a:rPr>
                        <a:t>Pearson correlation vs Yield_Tonnes_Ha</a:t>
                      </a:r>
                    </a:p>
                  </a:txBody>
                  <a:tcPr marL="101600" marR="101600" marT="50800" marB="50800">
                    <a:solidFill>
                      <a:srgbClr val="F4F7F6"/>
                    </a:solidFill>
                  </a:tcPr>
                </a:tc>
                <a:tc>
                  <a:txBody>
                    <a:bodyPr/>
                    <a:lstStyle/>
                    <a:p>
                      <a:pPr algn="l"/>
                      <a:r>
                        <a:rPr sz="1100" b="0">
                          <a:solidFill>
                            <a:srgbClr val="222222"/>
                          </a:solidFill>
                          <a:latin typeface="Trebuchet MS"/>
                        </a:rPr>
                        <a:t>r = 0.92 (water eff.) vs r ≈ 0.00–0.05 (fertiliser, N, P, K)</a:t>
                      </a:r>
                    </a:p>
                  </a:txBody>
                  <a:tcPr marL="101600" marR="101600" marT="50800" marB="50800">
                    <a:solidFill>
                      <a:srgbClr val="F4F7F6"/>
                    </a:solidFill>
                  </a:tcPr>
                </a:tc>
                <a:extLst>
                  <a:ext uri="{0D108BD9-81ED-4DB2-BD59-A6C34878D82A}">
                    <a16:rowId xmlns:a16="http://schemas.microsoft.com/office/drawing/2014/main" val="10004"/>
                  </a:ext>
                </a:extLst>
              </a:tr>
              <a:tr h="603066">
                <a:tc>
                  <a:txBody>
                    <a:bodyPr/>
                    <a:lstStyle/>
                    <a:p>
                      <a:pPr algn="l"/>
                      <a:r>
                        <a:rPr sz="1100" b="1">
                          <a:solidFill>
                            <a:srgbClr val="222222"/>
                          </a:solidFill>
                          <a:latin typeface="Trebuchet MS"/>
                        </a:rPr>
                        <a:t>Nearly half of all farms operate at a loss, worsening in Zaid</a:t>
                      </a:r>
                    </a:p>
                  </a:txBody>
                  <a:tcPr marL="101600" marR="101600" marT="50800" marB="50800">
                    <a:solidFill>
                      <a:srgbClr val="FFFFFF"/>
                    </a:solidFill>
                  </a:tcPr>
                </a:tc>
                <a:tc>
                  <a:txBody>
                    <a:bodyPr/>
                    <a:lstStyle/>
                    <a:p>
                      <a:pPr algn="l"/>
                      <a:r>
                        <a:rPr sz="1100" b="0">
                          <a:solidFill>
                            <a:srgbClr val="222222"/>
                          </a:solidFill>
                          <a:latin typeface="Trebuchet MS"/>
                        </a:rPr>
                        <a:t>% of farms with Profit_INR &lt; 0, by season</a:t>
                      </a:r>
                    </a:p>
                  </a:txBody>
                  <a:tcPr marL="101600" marR="101600" marT="50800" marB="50800">
                    <a:solidFill>
                      <a:srgbClr val="FFFFFF"/>
                    </a:solidFill>
                  </a:tcPr>
                </a:tc>
                <a:tc>
                  <a:txBody>
                    <a:bodyPr/>
                    <a:lstStyle/>
                    <a:p>
                      <a:pPr algn="l"/>
                      <a:r>
                        <a:rPr sz="1100" b="0">
                          <a:solidFill>
                            <a:srgbClr val="222222"/>
                          </a:solidFill>
                          <a:latin typeface="Trebuchet MS"/>
                        </a:rPr>
                        <a:t>49% overall — 42% (Kharif) → 51% (Rabi) → 64% (Zaid)</a:t>
                      </a:r>
                    </a:p>
                  </a:txBody>
                  <a:tcPr marL="101600" marR="101600" marT="50800" marB="50800">
                    <a:solidFill>
                      <a:srgbClr val="FFFFFF"/>
                    </a:solidFill>
                  </a:tcPr>
                </a:tc>
                <a:extLst>
                  <a:ext uri="{0D108BD9-81ED-4DB2-BD59-A6C34878D82A}">
                    <a16:rowId xmlns:a16="http://schemas.microsoft.com/office/drawing/2014/main" val="10005"/>
                  </a:ext>
                </a:extLst>
              </a:tr>
              <a:tr h="603068">
                <a:tc>
                  <a:txBody>
                    <a:bodyPr/>
                    <a:lstStyle/>
                    <a:p>
                      <a:pPr algn="l"/>
                      <a:r>
                        <a:rPr sz="1100" b="1">
                          <a:solidFill>
                            <a:srgbClr val="222222"/>
                          </a:solidFill>
                          <a:latin typeface="Trebuchet MS"/>
                        </a:rPr>
                        <a:t>Drip irrigation is the most water-efficient method</a:t>
                      </a:r>
                    </a:p>
                  </a:txBody>
                  <a:tcPr marL="101600" marR="101600" marT="50800" marB="50800">
                    <a:solidFill>
                      <a:srgbClr val="F4F7F6"/>
                    </a:solidFill>
                  </a:tcPr>
                </a:tc>
                <a:tc>
                  <a:txBody>
                    <a:bodyPr/>
                    <a:lstStyle/>
                    <a:p>
                      <a:pPr algn="l"/>
                      <a:r>
                        <a:rPr sz="1100" b="0">
                          <a:solidFill>
                            <a:srgbClr val="222222"/>
                          </a:solidFill>
                          <a:latin typeface="Trebuchet MS"/>
                        </a:rPr>
                        <a:t>Mean water efficiency &amp; yield by Irrigation_Method</a:t>
                      </a:r>
                    </a:p>
                  </a:txBody>
                  <a:tcPr marL="101600" marR="101600" marT="50800" marB="50800">
                    <a:solidFill>
                      <a:srgbClr val="F4F7F6"/>
                    </a:solidFill>
                  </a:tcPr>
                </a:tc>
                <a:tc>
                  <a:txBody>
                    <a:bodyPr/>
                    <a:lstStyle/>
                    <a:p>
                      <a:pPr algn="l"/>
                      <a:r>
                        <a:rPr sz="1100" b="0" dirty="0">
                          <a:solidFill>
                            <a:srgbClr val="222222"/>
                          </a:solidFill>
                          <a:latin typeface="Trebuchet MS"/>
                        </a:rPr>
                        <a:t>6.27 t/1000m³ (Drip) vs 3.44 (Flood), highest yield among methods</a:t>
                      </a:r>
                    </a:p>
                  </a:txBody>
                  <a:tcPr marL="101600" marR="101600" marT="50800" marB="50800">
                    <a:solidFill>
                      <a:srgbClr val="F4F7F6"/>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675957" y="1870082"/>
            <a:ext cx="9800000" cy="4250000"/>
          </a:xfrm>
          <a:prstGeom prst="rect">
            <a:avLst/>
          </a:prstGeom>
          <a:noFill/>
        </p:spPr>
        <p:txBody>
          <a:bodyPr wrap="square">
            <a:spAutoFit/>
          </a:bodyPr>
          <a:lstStyle/>
          <a:p>
            <a:pPr algn="l">
              <a:lnSpc>
                <a:spcPct val="120000"/>
              </a:lnSpc>
              <a:spcAft>
                <a:spcPts val="1800"/>
              </a:spcAft>
            </a:pPr>
            <a:r>
              <a:rPr sz="2000" dirty="0">
                <a:solidFill>
                  <a:srgbClr val="222222"/>
                </a:solidFill>
                <a:latin typeface="Trebuchet MS"/>
              </a:rPr>
              <a:t>•  Extend the analysis across multiple years to study year-over-year seasonal trends, not just a single-cycle cross-section</a:t>
            </a:r>
          </a:p>
          <a:p>
            <a:pPr>
              <a:lnSpc>
                <a:spcPct val="120000"/>
              </a:lnSpc>
              <a:spcAft>
                <a:spcPts val="1800"/>
              </a:spcAft>
            </a:pPr>
            <a:r>
              <a:rPr sz="2000" dirty="0">
                <a:solidFill>
                  <a:srgbClr val="222222"/>
                </a:solidFill>
                <a:latin typeface="Trebuchet MS"/>
              </a:rPr>
              <a:t>•  Build a simple Power BI or </a:t>
            </a:r>
            <a:r>
              <a:rPr sz="2000" dirty="0" err="1">
                <a:solidFill>
                  <a:srgbClr val="222222"/>
                </a:solidFill>
                <a:latin typeface="Trebuchet MS"/>
              </a:rPr>
              <a:t>Streamlit</a:t>
            </a:r>
            <a:r>
              <a:rPr sz="2000" dirty="0">
                <a:solidFill>
                  <a:srgbClr val="222222"/>
                </a:solidFill>
                <a:latin typeface="Trebuchet MS"/>
              </a:rPr>
              <a:t> dashboard so farmers or planners can filter results by state, crop and season</a:t>
            </a:r>
          </a:p>
          <a:p>
            <a:pPr>
              <a:lnSpc>
                <a:spcPct val="120000"/>
              </a:lnSpc>
              <a:spcAft>
                <a:spcPts val="1800"/>
              </a:spcAft>
            </a:pPr>
            <a:r>
              <a:rPr sz="2000" dirty="0">
                <a:solidFill>
                  <a:srgbClr val="222222"/>
                </a:solidFill>
                <a:latin typeface="Trebuchet MS"/>
              </a:rPr>
              <a:t>•  Investigate further why </a:t>
            </a:r>
            <a:r>
              <a:rPr sz="2000" dirty="0" err="1">
                <a:solidFill>
                  <a:srgbClr val="222222"/>
                </a:solidFill>
                <a:latin typeface="Trebuchet MS"/>
              </a:rPr>
              <a:t>fertiliser</a:t>
            </a:r>
            <a:r>
              <a:rPr sz="2000" dirty="0">
                <a:solidFill>
                  <a:srgbClr val="222222"/>
                </a:solidFill>
                <a:latin typeface="Trebuchet MS"/>
              </a:rPr>
              <a:t> and pesticide use show almost no correlation with yield in this dataset</a:t>
            </a:r>
          </a:p>
          <a:p>
            <a:pPr>
              <a:lnSpc>
                <a:spcPct val="120000"/>
              </a:lnSpc>
              <a:spcAft>
                <a:spcPts val="1800"/>
              </a:spcAft>
            </a:pPr>
            <a:r>
              <a:rPr sz="2000" dirty="0">
                <a:solidFill>
                  <a:srgbClr val="222222"/>
                </a:solidFill>
                <a:latin typeface="Trebuchet MS"/>
              </a:rPr>
              <a:t>•  Combine with real market-price time series to separate yield-driven and price-driven profit swings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95347" y="637973"/>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675957" y="1941449"/>
            <a:ext cx="7232875" cy="646331"/>
          </a:xfrm>
          <a:prstGeom prst="rect">
            <a:avLst/>
          </a:prstGeom>
          <a:noFill/>
        </p:spPr>
        <p:txBody>
          <a:bodyPr wrap="square">
            <a:spAutoFit/>
          </a:bodyPr>
          <a:lstStyle/>
          <a:p>
            <a:r>
              <a:rPr lang="en-US" dirty="0">
                <a:solidFill>
                  <a:srgbClr val="222222"/>
                </a:solidFill>
                <a:hlinkClick r:id="rId3"/>
              </a:rPr>
              <a:t>https://github.com/siddhijagtap2028-tech/Seasonal_Agriculture_Performance_Analysis/tree/main</a:t>
            </a:r>
            <a:endParaRPr lang="en-US" dirty="0">
              <a:solidFill>
                <a:srgbClr val="222222"/>
              </a:solidFill>
              <a:latin typeface="Trebuchet MS"/>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C1DAF581-24D9-566F-A7C3-98C508F2FAD5}"/>
              </a:ext>
            </a:extLst>
          </p:cNvPr>
          <p:cNvPicPr>
            <a:picLocks noChangeAspect="1"/>
          </p:cNvPicPr>
          <p:nvPr/>
        </p:nvPicPr>
        <p:blipFill>
          <a:blip r:embed="rId3"/>
          <a:srcRect l="36199" t="22269" r="16581" b="14922"/>
          <a:stretch>
            <a:fillRect/>
          </a:stretch>
        </p:blipFill>
        <p:spPr>
          <a:xfrm>
            <a:off x="1747519" y="1403874"/>
            <a:ext cx="7193902" cy="508353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0" y="2728886"/>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1516</TotalTime>
  <Words>799</Words>
  <Application>Microsoft Office PowerPoint</Application>
  <PresentationFormat>Widescreen</PresentationFormat>
  <Paragraphs>74</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sumit jagtap</cp:lastModifiedBy>
  <cp:revision>100</cp:revision>
  <dcterms:created xsi:type="dcterms:W3CDTF">2021-07-11T13:13:15Z</dcterms:created>
  <dcterms:modified xsi:type="dcterms:W3CDTF">2026-09-09T07:27:01Z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